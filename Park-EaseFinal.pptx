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SAMBHAV" userId="b9b12b28affd97c8" providerId="LiveId" clId="{E93036B6-4C5F-4FEF-B861-E5EBC40A23E5}"/>
    <pc:docChg chg="custSel modSld">
      <pc:chgData name="KUMAR SAMBHAV" userId="b9b12b28affd97c8" providerId="LiveId" clId="{E93036B6-4C5F-4FEF-B861-E5EBC40A23E5}" dt="2026-10-07T06:35:18.965" v="28" actId="14100"/>
      <pc:docMkLst>
        <pc:docMk/>
      </pc:docMkLst>
      <pc:sldChg chg="delSp modSp mod">
        <pc:chgData name="KUMAR SAMBHAV" userId="b9b12b28affd97c8" providerId="LiveId" clId="{E93036B6-4C5F-4FEF-B861-E5EBC40A23E5}" dt="2026-10-07T06:35:18.965" v="28" actId="14100"/>
        <pc:sldMkLst>
          <pc:docMk/>
          <pc:sldMk cId="0" sldId="257"/>
        </pc:sldMkLst>
        <pc:spChg chg="mod">
          <ac:chgData name="KUMAR SAMBHAV" userId="b9b12b28affd97c8" providerId="LiveId" clId="{E93036B6-4C5F-4FEF-B861-E5EBC40A23E5}" dt="2026-10-07T06:35:14.517" v="27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KUMAR SAMBHAV" userId="b9b12b28affd97c8" providerId="LiveId" clId="{E93036B6-4C5F-4FEF-B861-E5EBC40A23E5}" dt="2026-10-07T06:35:18.965" v="28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KUMAR SAMBHAV" userId="b9b12b28affd97c8" providerId="LiveId" clId="{E93036B6-4C5F-4FEF-B861-E5EBC40A23E5}" dt="2026-10-07T06:35:01.087" v="25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KUMAR SAMBHAV" userId="b9b12b28affd97c8" providerId="LiveId" clId="{E93036B6-4C5F-4FEF-B861-E5EBC40A23E5}" dt="2026-10-07T06:34:56.440" v="24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UMAR SAMBHAV" userId="b9b12b28affd97c8" providerId="LiveId" clId="{E93036B6-4C5F-4FEF-B861-E5EBC40A23E5}" dt="2026-10-07T06:34:15.740" v="16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UMAR SAMBHAV" userId="b9b12b28affd97c8" providerId="LiveId" clId="{E93036B6-4C5F-4FEF-B861-E5EBC40A23E5}" dt="2026-10-07T06:34:39.264" v="20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KUMAR SAMBHAV" userId="b9b12b28affd97c8" providerId="LiveId" clId="{E93036B6-4C5F-4FEF-B861-E5EBC40A23E5}" dt="2026-10-07T06:35:05.159" v="26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KUMAR SAMBHAV" userId="b9b12b28affd97c8" providerId="LiveId" clId="{E93036B6-4C5F-4FEF-B861-E5EBC40A23E5}" dt="2026-10-07T06:34:52.915" v="23" actId="14100"/>
          <ac:spMkLst>
            <pc:docMk/>
            <pc:sldMk cId="0" sldId="257"/>
            <ac:spMk id="14" creationId="{00000000-0000-0000-0000-000000000000}"/>
          </ac:spMkLst>
        </pc:spChg>
        <pc:spChg chg="del">
          <ac:chgData name="KUMAR SAMBHAV" userId="b9b12b28affd97c8" providerId="LiveId" clId="{E93036B6-4C5F-4FEF-B861-E5EBC40A23E5}" dt="2026-10-07T06:32:03.446" v="0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UMAR SAMBHAV" userId="b9b12b28affd97c8" providerId="LiveId" clId="{E93036B6-4C5F-4FEF-B861-E5EBC40A23E5}" dt="2026-10-07T06:32:05.229" v="1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KUMAR SAMBHAV" userId="b9b12b28affd97c8" providerId="LiveId" clId="{E93036B6-4C5F-4FEF-B861-E5EBC40A23E5}" dt="2026-10-07T06:33:04.506" v="2" actId="478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KUMAR SAMBHAV" userId="b9b12b28affd97c8" providerId="LiveId" clId="{E93036B6-4C5F-4FEF-B861-E5EBC40A23E5}" dt="2026-10-07T06:33:22.900" v="9" actId="478"/>
          <ac:spMkLst>
            <pc:docMk/>
            <pc:sldMk cId="0" sldId="257"/>
            <ac:spMk id="1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Where parking is a problem (% of respondents)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Where parking is a problem (% of respondents)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Markets</c:v>
                </c:pt>
                <c:pt idx="1">
                  <c:v>Shopping areas</c:v>
                </c:pt>
                <c:pt idx="2">
                  <c:v>Restaurants &amp; cafes</c:v>
                </c:pt>
                <c:pt idx="3">
                  <c:v>Colleges</c:v>
                </c:pt>
                <c:pt idx="4">
                  <c:v>Hospitals</c:v>
                </c:pt>
                <c:pt idx="5">
                  <c:v>Residential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</c:v>
                </c:pt>
                <c:pt idx="1">
                  <c:v>14</c:v>
                </c:pt>
                <c:pt idx="2">
                  <c:v>14</c:v>
                </c:pt>
                <c:pt idx="3">
                  <c:v>7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93-48E4-BFBE-A1CFC0385F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What drivers do when there is no spot (%)</a:t>
            </a:r>
          </a:p>
        </c:rich>
      </c:tx>
      <c:layout>
        <c:manualLayout>
          <c:xMode val="edge"/>
          <c:yMode val="edge"/>
          <c:x val="0.21546369203849519"/>
          <c:y val="7.3099415204678359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0714598175228097"/>
          <c:y val="0.16376110880876729"/>
          <c:w val="0.76557227221597302"/>
          <c:h val="0.83623889119123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 drivers do when there is no spot (%)</c:v>
                </c:pt>
              </c:strCache>
            </c:strRef>
          </c:tx>
          <c:spPr>
            <a:solidFill>
              <a:srgbClr val="F4B6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Park far, walk</c:v>
                </c:pt>
                <c:pt idx="1">
                  <c:v>Circle around</c:v>
                </c:pt>
                <c:pt idx="2">
                  <c:v>Park illegally</c:v>
                </c:pt>
                <c:pt idx="3">
                  <c:v>Use paid parking</c:v>
                </c:pt>
                <c:pt idx="4">
                  <c:v>Change plan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34</c:v>
                </c:pt>
                <c:pt idx="2">
                  <c:v>16</c:v>
                </c:pt>
                <c:pt idx="3">
                  <c:v>9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82-47F6-8691-07C00ECDAA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Arial"/>
              </a:rPr>
              <a:t>Most useful features (% of respondents)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useful features (% of respondents)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Real-time availability</c:v>
                </c:pt>
                <c:pt idx="1">
                  <c:v>Advance booking</c:v>
                </c:pt>
                <c:pt idx="2">
                  <c:v>Secure, verified parking</c:v>
                </c:pt>
                <c:pt idx="3">
                  <c:v>Map &amp; navigation</c:v>
                </c:pt>
                <c:pt idx="4">
                  <c:v>UPI payment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</c:v>
                </c:pt>
                <c:pt idx="1">
                  <c:v>57</c:v>
                </c:pt>
                <c:pt idx="2">
                  <c:v>50</c:v>
                </c:pt>
                <c:pt idx="3">
                  <c:v>45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D-489A-95A1-9A77AB9D9B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2545"/>
                </a:solidFill>
                <a:latin typeface="Arial"/>
              </a:rPr>
              <a:t>Owners' biggest concerns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Owners' biggest concerns (%)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Property damage</c:v>
                </c:pt>
                <c:pt idx="1">
                  <c:v>Security</c:v>
                </c:pt>
                <c:pt idx="2">
                  <c:v>Unknown people</c:v>
                </c:pt>
                <c:pt idx="3">
                  <c:v>Noise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61</c:v>
                </c:pt>
                <c:pt idx="2">
                  <c:v>61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24-4DFE-AA88-92176D64AE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2545"/>
                </a:solidFill>
                <a:latin typeface="Arial"/>
              </a:rPr>
              <a:t>What builds trust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 builds trust (%)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Verified owner</c:v>
                </c:pt>
                <c:pt idx="1">
                  <c:v>Reviews &amp; ratings</c:v>
                </c:pt>
                <c:pt idx="2">
                  <c:v>Photos of space</c:v>
                </c:pt>
                <c:pt idx="3">
                  <c:v>Clear location</c:v>
                </c:pt>
                <c:pt idx="4">
                  <c:v>Booking confirmation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55</c:v>
                </c:pt>
                <c:pt idx="2">
                  <c:v>48</c:v>
                </c:pt>
                <c:pt idx="3">
                  <c:v>45</c:v>
                </c:pt>
                <c:pt idx="4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3B-4C4F-A144-8043842A77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5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02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problem: parking is scarce at busy markets while residential spaces sit empty. Survey of 44 commuters.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groups that never meet: drivers hunting for spots near markets, and residents whose spaces sit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the sample is mostly students. Treat results as early signals, not market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Frequency: 17 several times a week, 8 almost every day, 15 occasionally, 3 rarely. The 22 hours estimate: midpoint of search-time range times weekly frequency, averaged over 43 respondents. It is an estimate, time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Markets come first, not malls. Say that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nobody cancels the trip. They lose time or break rules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Willingness to pay: 19 chose 10-20 rupees, 13 chose 20-40, 3 chose 40-60, 7 would not pay. Renting: 11 definitely, 13 probably, 12 maybe, 7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maps to a survey finding: real-time availability 77%, advance booking 57%, UPI payment 45%, verified owner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73% definitely or probably use the app; 91% would download or consider it; 23 want to book ahead, 15 maybe. Rating 3.6/5 (n=43).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Concerns: damage 28, security 27, unknown people 27, noise 15, trusting the driver 11. Trust: verified owner 31, reviews 24, photos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arithmetic, not a forecast. Commission rate (15-20%) is a hypothesis to validate with owners. 4h x Rs15 x 30 days = Rs1,800; 20% = Rs360; 500 spots = Rs1,80,000.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on Contextual: we are students who park in these same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limits. Survey also asked for legal verification of private spaces and cover for vehicle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validate with real interviews, build a small prototype, pilot in one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SPARK 2026 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Ease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65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 peer-to-peer platform connecting drivers in busy commercial zones with unused residential parking spaces.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Sambhav · Kushaal A Aradhya · Kushal K Jois · Krishna V Bhovi · K. Sujith · Lakhan Rathod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streets, empty driveways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199" y="1371600"/>
            <a:ext cx="3779079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71600"/>
            <a:ext cx="3779078" cy="73152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645920"/>
            <a:ext cx="3494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lose time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94560"/>
            <a:ext cx="342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short-term parking near busy commercial areas is hard. It means congestion, circling and lost time.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86852" y="1371600"/>
            <a:ext cx="35884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6852" y="1379551"/>
            <a:ext cx="3588468" cy="73152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06838" y="1591056"/>
            <a:ext cx="316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earn nothing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430" y="2103120"/>
            <a:ext cx="32904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residential spaces sit vacant for hours every day, generating zero value.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thesis: Park-Ease unlocks hyper-local micro-parking supply through peer-to-peer space sharing.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 · OCTOBER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44 daily commuters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25780" y="2444584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2675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48890" y="24688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8605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268605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aged 18–24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24688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4986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693699" y="32675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students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79704" y="2444584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81082" y="24445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6716864" y="3200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a two-wheeler, alone or with a car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 FRICTION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pain is a weekly habit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several times a week or almost daily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517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5+ minutes per search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2801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far, circle or park illegally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29400" y="12801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1463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hrs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driver per year (our estimate)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8803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much crowd in public parkings so waiting time is a lot."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"Hard to find parking areas in markets. Even if available, they charge a lot."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8315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DISCOVERY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the hotspot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8872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1371600"/>
            <a:ext cx="2834640" cy="219456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8076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problem spots are markets, shopping areas and restaurants combined.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DO TODAY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/>
              <a:t>Nobody cancels going to their desired places, they just lose time or break the rules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043132756"/>
              </p:ext>
            </p:extLst>
          </p:nvPr>
        </p:nvGraphicFramePr>
        <p:xfrm>
          <a:off x="457200" y="118872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852160" y="137160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3504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park illegally or in unsafe places.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423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risks fines and vehicle damage, and it adds to congestion around markets.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INTENT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will pay. Residents will rent.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80160"/>
            <a:ext cx="4023360" cy="41148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DEMAND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1965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pay for convenient parking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₹10–20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 is the most chosen price (43%)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1280160"/>
            <a:ext cx="4023360" cy="411480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SUPPLY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1965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space unused part of the day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probably or definitely rent it out; 59% want extra income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n-US" sz="10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Park-Ease: list, find, book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194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list an unused space with photos, location and free hours.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194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see real-time availability on a live map near their destination.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pay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194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reserve ahead and pay by the hour via UPI.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B2545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Building an app which acts as an built in trust engine for verified users, two-way ratings ,secured payments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SIGNALS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would try 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definitely or probably use the app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2651760" y="1188720"/>
          <a:ext cx="60350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r>
              <a:rPr lang="en-US" sz="10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want income but fear for their property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340796300"/>
              </p:ext>
            </p:extLst>
          </p:nvPr>
        </p:nvGraphicFramePr>
        <p:xfrm>
          <a:off x="769573" y="128016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663440" y="118872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Park-Ease earns (Ex : For 2 Wheelers)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03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4 hrs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30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128016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₹1,800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spot / month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517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commission per booking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passes for office commuters and shopkeepers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63440" y="26517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₹360</a:t>
            </a:r>
            <a:endParaRPr lang="en-US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spot per month at 20% take. 500 active spots ≈ ₹1,80,000 monthly commission (target).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EVALUATION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TIPSC: the case for Park-Ease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554480" cy="2834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155448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face this several times a week or daily.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03120" y="1371600"/>
            <a:ext cx="1554480" cy="2834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06040" y="155448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06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26517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lose 5+ minutes per search; 16% park illegally.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49040" y="1371600"/>
            <a:ext cx="1554480" cy="2834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51960" y="155448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51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886200" y="26517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would pay; 15–20% commission model.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94960" y="1371600"/>
            <a:ext cx="1554480" cy="2834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97880" y="155448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897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532120" y="26517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MVP(Minimum Viable Product) needs listing, map, booking and UPI.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40880" y="1371600"/>
            <a:ext cx="1554480" cy="28346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43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178040" y="26517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commutes and parks in these markets daily.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still have to prove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280160"/>
            <a:ext cx="73152" cy="1371600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bias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are aged 18–24 and 64% are students. We must hear from owners, shopkeepers and older drivers.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280160"/>
            <a:ext cx="73152" cy="1371600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vs action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yes to a download is not using it. User data after the release of the app will show real behavior.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46888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95728" y="2834640"/>
            <a:ext cx="73152" cy="1371600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0" y="29489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commission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2697480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₹10–20/hr and a 15–20% take are hypotheses to test.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Find. Prove. Then build.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 · CIE SPARK 2026 · Survey n = 44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423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each with drivers, residents and shopkeepers in prime market clusters.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1371600"/>
            <a:ext cx="260604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423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app: listing, geo-map, instant booking and UPI checkout.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371600"/>
            <a:ext cx="2606040" cy="457200"/>
          </a:xfrm>
          <a:prstGeom prst="rect">
            <a:avLst/>
          </a:prstGeom>
          <a:solidFill>
            <a:srgbClr val="F4B63F"/>
          </a:solidFill>
          <a:ln w="12700">
            <a:solidFill>
              <a:srgbClr val="F4B63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423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Single-market pilot to test commission conversion and owner retention.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 w="9525">
            <a:solidFill>
              <a:srgbClr val="DDE5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mentors on private-space rental rules, safe payments and ID checks, plus an introduction to a market association.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Park-Ease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streets. Empty driveways. One app to connect them.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 &amp; discussion.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Park-Ease · CIE SPARK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1307</Words>
  <Application>Microsoft Office PowerPoint</Application>
  <PresentationFormat>On-screen Show (16:9)</PresentationFormat>
  <Paragraphs>188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Park-Ease Pitch Deck</dc:title>
  <dc:subject>PptxGenJS Presentation</dc:subject>
  <dc:creator>PptxGenJS</dc:creator>
  <cp:lastModifiedBy>KUMAR SAMBHAV</cp:lastModifiedBy>
  <cp:revision>2</cp:revision>
  <dcterms:created xsi:type="dcterms:W3CDTF">2026-10-06T12:59:56Z</dcterms:created>
  <dcterms:modified xsi:type="dcterms:W3CDTF">2026-10-07T06:38:10Z</dcterms:modified>
</cp:coreProperties>
</file>